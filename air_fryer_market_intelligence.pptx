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02B00C-E713-4513-BEEA-B8560BAEB405}">
  <a:tblStyle styleId="{A402B00C-E713-4513-BEEA-B8560BAEB40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E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48640" y="91440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Air Fryer Market</a:t>
            </a:r>
            <a:endParaRPr i="0" sz="4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48640" y="164592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5EEAD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Intelligence Report</a:t>
            </a:r>
            <a:endParaRPr i="0" sz="4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48640" y="2514600"/>
            <a:ext cx="3657600" cy="3657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26974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B4D1"/>
              </a:buClr>
              <a:buSzPts val="1500"/>
              <a:buFont typeface="Calibri"/>
              <a:buNone/>
            </a:pPr>
            <a:r>
              <a:rPr i="0" lang="en-US" sz="1500" u="none" cap="none" strike="noStrike">
                <a:solidFill>
                  <a:srgbClr val="8FB4D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Brand-Level Analysis  ·  2019 – 2023</a:t>
            </a:r>
            <a:endParaRPr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50" y="3526375"/>
            <a:ext cx="51753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1" lang="en-US" sz="110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Demand Estimation  ·  Cost &amp; Margin Analysis  ·  Competitive Positioning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E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at a Glance</a:t>
            </a:r>
            <a:endParaRPr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365760" y="960120"/>
            <a:ext cx="201168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365760" y="960120"/>
            <a:ext cx="201168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65760" y="1234440"/>
            <a:ext cx="2011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A2E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5760" y="19202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 Brands</a:t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5760" y="224028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Name-brand market</a:t>
            </a:r>
            <a:endParaRPr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2542032" y="960120"/>
            <a:ext cx="201168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2542032" y="960120"/>
            <a:ext cx="201168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2542032" y="1234440"/>
            <a:ext cx="2011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A2E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2542032" y="19202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Years of Data</a:t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2542032" y="224028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2019 – 2023</a:t>
            </a:r>
            <a:endParaRPr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709160" y="960120"/>
            <a:ext cx="201168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709160" y="960120"/>
            <a:ext cx="201168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709160" y="1234440"/>
            <a:ext cx="2011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A2E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$16</a:t>
            </a:r>
            <a:endParaRPr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709160" y="19202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Lowest Price</a:t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709160" y="224028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 (value leader)</a:t>
            </a:r>
            <a:endParaRPr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876288" y="960120"/>
            <a:ext cx="201168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876288" y="960120"/>
            <a:ext cx="201168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876288" y="1234440"/>
            <a:ext cx="2011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A2E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$228+</a:t>
            </a:r>
            <a:endParaRPr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876288" y="19202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Highest Price</a:t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876288" y="224028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Cuisinart (premium)</a:t>
            </a:r>
            <a:endParaRPr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65760" y="2971800"/>
            <a:ext cx="8458200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65760" y="2971800"/>
            <a:ext cx="64008" cy="17830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548640" y="306324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Snapshot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48640" y="3429000"/>
            <a:ext cx="81381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air fryer market underwent rapid transformation from 2019 to 2023. Early leaders like GoWise USA ceded ground to Ninja and Instant Pot, which now jointly command roughly 40–50% of the name-brand market. Cuisinart anchors the premium segment above $200, while Dash competes aggressively on value below $20. The market shows significant brand churn and pricing volatility</a:t>
            </a:r>
            <a:r>
              <a:rPr lang="en-US" sz="12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0" lang="en-US" sz="125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signs of a competitive landscape still reaching equilibrium. At 89.1% model R², a logit demand framework explains nearly all variation in brand share.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2E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Trends: Price &amp; Share (2019–2023)</a:t>
            </a:r>
            <a:endParaRPr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274320" y="777240"/>
            <a:ext cx="4297680" cy="3017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4663440" y="777240"/>
            <a:ext cx="4297680" cy="3017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777240"/>
            <a:ext cx="4297680" cy="3017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" name="Google Shape;6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777240"/>
            <a:ext cx="429768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5"/>
          <p:cNvSpPr/>
          <p:nvPr/>
        </p:nvSpPr>
        <p:spPr>
          <a:xfrm>
            <a:off x="274320" y="3858768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i="1" lang="en-US" sz="100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Price by Brand ($)</a:t>
            </a:r>
            <a:endParaRPr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663440" y="3858768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i="1" lang="en-US" sz="100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Brand Market Share (%)</a:t>
            </a:r>
            <a:endParaRPr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274320" y="4206240"/>
            <a:ext cx="8686800" cy="77724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365760" y="4251960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Cuisinart is consistently above $200 — the clear premium anchor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3273552" y="4251960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Ninja &amp; Instant Pot surged to ~40% combined share by 2023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181344" y="4251960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GoWise USA fell from market leader to mid-tier between 2019–2022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E4A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/>
          <p:nvPr/>
        </p:nvSpPr>
        <p:spPr>
          <a:xfrm>
            <a:off x="548640" y="228600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Drives Consumer Choice?</a:t>
            </a:r>
            <a:endParaRPr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548640" y="80467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350"/>
              <a:buFont typeface="Calibri"/>
              <a:buNone/>
            </a:pPr>
            <a:r>
              <a:rPr i="1" lang="en-US" sz="1350" u="none" cap="none" strike="noStrike">
                <a:solidFill>
                  <a:srgbClr val="5EEAD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logit demand model explains how price, ratings, and features shape brand market share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548640" y="1325880"/>
            <a:ext cx="457200" cy="4572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548640" y="1344168"/>
            <a:ext cx="457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1143000" y="132588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 share regression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1143000" y="1600200"/>
            <a:ext cx="3886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i="0" lang="en-US" sz="115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regress log(brand market share) on price, ratings, product features, and brand + year fixed effects — a linear approximation of the multinomial logit.</a:t>
            </a:r>
            <a:endParaRPr i="0" sz="11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548640" y="2423160"/>
            <a:ext cx="457200" cy="4572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548640" y="2441448"/>
            <a:ext cx="457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1143000" y="242316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price coefficient for all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1143000" y="2697480"/>
            <a:ext cx="3886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i="0" lang="en-US" sz="115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single β_price is estimated across all brands and years, giving a consistent elasticity measure and enabling cost back-out.</a:t>
            </a:r>
            <a:endParaRPr i="0" sz="11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548640" y="3538728"/>
            <a:ext cx="457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1143000" y="35204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Brand &amp; year dummies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1143000" y="3794760"/>
            <a:ext cx="3886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i="0" lang="en-US" sz="115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Brand dummies capture fixed quality differences; year dummies absorb aggregate demand shifts (e.g., the COVID-era air fryer boom in 2020–2021).</a:t>
            </a:r>
            <a:endParaRPr i="0" sz="11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5303520" y="1325880"/>
            <a:ext cx="3566160" cy="960120"/>
          </a:xfrm>
          <a:prstGeom prst="rect">
            <a:avLst/>
          </a:prstGeom>
          <a:solidFill>
            <a:srgbClr val="112036"/>
          </a:solidFill>
          <a:ln cap="flat" cmpd="sng" w="9525">
            <a:solidFill>
              <a:srgbClr val="243D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5303520" y="1325880"/>
            <a:ext cx="54864" cy="960120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5449824" y="1371600"/>
            <a:ext cx="3291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5EEAD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−0.0267</a:t>
            </a:r>
            <a:endParaRPr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449824" y="1837944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Price Coefficient  (β̂price)</a:t>
            </a:r>
            <a:endParaRPr i="0" sz="11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5449824" y="2039112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Significant at p = 0.002  ·  Higher price → lost share</a:t>
            </a:r>
            <a:endParaRPr i="0" sz="9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5303520" y="2423160"/>
            <a:ext cx="3566160" cy="960120"/>
          </a:xfrm>
          <a:prstGeom prst="rect">
            <a:avLst/>
          </a:prstGeom>
          <a:solidFill>
            <a:srgbClr val="112036"/>
          </a:solidFill>
          <a:ln cap="flat" cmpd="sng" w="9525">
            <a:solidFill>
              <a:srgbClr val="243D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303520" y="2423160"/>
            <a:ext cx="54864" cy="9601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5449824" y="2468880"/>
            <a:ext cx="3291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59E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89.1%</a:t>
            </a:r>
            <a:endParaRPr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5449824" y="2935224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R²</a:t>
            </a:r>
            <a:endParaRPr i="0" sz="11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5449824" y="3136392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Variance in brand share explained by the model</a:t>
            </a:r>
            <a:endParaRPr i="0" sz="9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5303520" y="3520440"/>
            <a:ext cx="3566160" cy="960120"/>
          </a:xfrm>
          <a:prstGeom prst="rect">
            <a:avLst/>
          </a:prstGeom>
          <a:solidFill>
            <a:srgbClr val="112036"/>
          </a:solidFill>
          <a:ln cap="flat" cmpd="sng" w="9525">
            <a:solidFill>
              <a:srgbClr val="243D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5303520" y="3520440"/>
            <a:ext cx="54864" cy="960120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5449824" y="3566160"/>
            <a:ext cx="3291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871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2021</a:t>
            </a:r>
            <a:endParaRPr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5449824" y="4032504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Peak Demand Year</a:t>
            </a:r>
            <a:endParaRPr i="0" sz="11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5449824" y="4233672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Largest year dummy coefficient — COVID-era air fryer boom</a:t>
            </a:r>
            <a:endParaRPr i="0" sz="9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548640" y="457200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i="1" lang="en-US" sz="105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negative price coefficient is essential. If positive, the model is misspecified and cost inference breaks down. Here, a $1 price increase reduces a brand's log share by 0.027 — confirming standard consumer demand behavior.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2E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Features Matter?</a:t>
            </a:r>
            <a:endParaRPr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8" name="Google Shape;10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868680"/>
            <a:ext cx="457200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7"/>
          <p:cNvSpPr/>
          <p:nvPr/>
        </p:nvSpPr>
        <p:spPr>
          <a:xfrm>
            <a:off x="365760" y="3977640"/>
            <a:ext cx="4572000" cy="86868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502920" y="4041648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E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Demand Coefficients (direction of effect on share)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502920" y="4315968"/>
            <a:ext cx="4389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Dual Basket: +12.2  ·  Compact: +1.5  ·  Rotisserie: +1.3  ·  Oven-Style: −0.4  ·  Window: −0.6</a:t>
            </a:r>
            <a:endParaRPr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5166360" y="868680"/>
            <a:ext cx="3657600" cy="7955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5166360" y="868680"/>
            <a:ext cx="64008" cy="79552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5321808" y="932688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E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Compact = table stakes</a:t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321808" y="1216152"/>
            <a:ext cx="34290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98% of products are compact. Being compact doesn't win share — not being compact would lose it.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5166360" y="1783080"/>
            <a:ext cx="3657600" cy="7955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5166360" y="1783080"/>
            <a:ext cx="64008" cy="79552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5321808" y="1847088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E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Oven-style is polarizing</a:t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5321808" y="2130552"/>
            <a:ext cx="34290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56% prevalence but a slight negative coefficient. Cuisinart, Dash, and Oster specialize here</a:t>
            </a:r>
            <a:r>
              <a:rPr i="0" lang="en-US" sz="105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</a:t>
            </a:r>
            <a:r>
              <a:rPr i="0" lang="en-US" sz="105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quality of execution matters more than the feature itself.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5166360" y="2697480"/>
            <a:ext cx="3657600" cy="7955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5166360" y="2697480"/>
            <a:ext cx="64008" cy="795528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5321808" y="2761488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E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Dual basket: hidden gem</a:t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5321808" y="3044952"/>
            <a:ext cx="34290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0.2% penetration yet the strongest positive demand signal (+12.2). A massive untapped opportunity for any brand willing to invest.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5166360" y="3611880"/>
            <a:ext cx="3657600" cy="7955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5166360" y="3611880"/>
            <a:ext cx="64008" cy="795528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5321808" y="3675888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Chefman leads the niches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5321808" y="3959352"/>
            <a:ext cx="34290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Highest rotisserie (37%) and window (36%) shares among all brands — carving out an enthusiast segment others ignore.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2E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Costs, Markups &amp; Profitability</a:t>
            </a:r>
            <a:endParaRPr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274320" y="804672"/>
            <a:ext cx="5029200" cy="320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5" name="Google Shape;13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804672"/>
            <a:ext cx="5029200" cy="3200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6" name="Google Shape;136;p8"/>
          <p:cNvGraphicFramePr/>
          <p:nvPr/>
        </p:nvGraphicFramePr>
        <p:xfrm>
          <a:off x="5486400" y="8046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{A402B00C-E713-4513-BEEA-B8560BAEB405}</a:tableStyleId>
              </a:tblPr>
              <a:tblGrid>
                <a:gridCol w="1261875"/>
                <a:gridCol w="749800"/>
                <a:gridCol w="749800"/>
                <a:gridCol w="713225"/>
              </a:tblGrid>
              <a:tr h="378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Brand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Avg Price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Unit Cost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Markup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E4A"/>
                    </a:solidFill>
                  </a:tcPr>
                </a:tc>
              </a:tr>
              <a:tr h="378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Cuisinart</a:t>
                      </a:r>
                      <a:endParaRPr sz="11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~$228</a:t>
                      </a:r>
                      <a:endParaRPr sz="11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~$183</a:t>
                      </a:r>
                      <a:endParaRPr sz="11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~$45</a:t>
                      </a:r>
                      <a:endParaRPr sz="11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8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Oster</a:t>
                      </a:r>
                      <a:endParaRPr sz="11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~$196</a:t>
                      </a:r>
                      <a:endParaRPr sz="11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~$151</a:t>
                      </a:r>
                      <a:endParaRPr sz="11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~$45</a:t>
                      </a:r>
                      <a:endParaRPr sz="11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8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Ninja</a:t>
                      </a:r>
                      <a:endParaRPr sz="11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~$145</a:t>
                      </a:r>
                      <a:endParaRPr sz="11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~$99</a:t>
                      </a:r>
                      <a:endParaRPr sz="11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~$46</a:t>
                      </a:r>
                      <a:endParaRPr sz="11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8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Instant Pot</a:t>
                      </a:r>
                      <a:endParaRPr sz="11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~$95</a:t>
                      </a:r>
                      <a:endParaRPr sz="11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~$53</a:t>
                      </a:r>
                      <a:endParaRPr sz="11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~$42</a:t>
                      </a:r>
                      <a:endParaRPr sz="11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8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GoWise USA</a:t>
                      </a:r>
                      <a:endParaRPr sz="11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~$62</a:t>
                      </a:r>
                      <a:endParaRPr sz="11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~$22</a:t>
                      </a:r>
                      <a:endParaRPr sz="11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~$40</a:t>
                      </a:r>
                      <a:endParaRPr sz="11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8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Dash</a:t>
                      </a:r>
                      <a:endParaRPr sz="11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~$54</a:t>
                      </a:r>
                      <a:endParaRPr sz="11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~$16</a:t>
                      </a:r>
                      <a:endParaRPr sz="11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~$38</a:t>
                      </a:r>
                      <a:endParaRPr sz="11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7" name="Google Shape;137;p8"/>
          <p:cNvSpPr/>
          <p:nvPr/>
        </p:nvSpPr>
        <p:spPr>
          <a:xfrm>
            <a:off x="5486400" y="3566160"/>
            <a:ext cx="3383280" cy="804672"/>
          </a:xfrm>
          <a:prstGeom prst="rect">
            <a:avLst/>
          </a:prstGeom>
          <a:solidFill>
            <a:srgbClr val="FFF7ED"/>
          </a:solidFill>
          <a:ln cap="flat" cmpd="sng" w="9525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5486400" y="3566160"/>
            <a:ext cx="54864" cy="80467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5623560" y="3630168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Markup range: $38 – $46</a:t>
            </a:r>
            <a:endParaRPr i="0" sz="11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5623560" y="3913632"/>
            <a:ext cx="3154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Markups are compressed across all brands. Price differences mainly reflect cost differences, not margin strategy.</a:t>
            </a:r>
            <a:endParaRPr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250670" y="4221200"/>
            <a:ext cx="8595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Ninja and Instant Pot generate the highest share-weighted profit — not through higher margins, but through market volume. Oster sits at the bottom despite its high price, because low market share drags its profit index to just 0.96.</a:t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E4A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Competitive Landscape &amp; Takeaways</a:t>
            </a:r>
            <a:endParaRPr i="0" sz="2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548640" y="758952"/>
            <a:ext cx="8046720" cy="274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548640" y="960120"/>
            <a:ext cx="54864" cy="6400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1234440" y="96012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94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Volume wins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1234440" y="1280160"/>
            <a:ext cx="7543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Ninja &amp; Instant Pot lead on profit — not because of wider margins, but because ~40% market share amplifies every dollar of markup. Scale is the clearest competitive moat in this market.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548640" y="1764792"/>
            <a:ext cx="54864" cy="64008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1234440" y="1764792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59E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Premium is viable but niche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1234440" y="2084832"/>
            <a:ext cx="7543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Cuisinart sustains a $183 unit cost and $228 price point. But its low share limits total profitability. A premium strategy demands a loyal, price-inelastic customer base.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548640" y="2569464"/>
            <a:ext cx="54864" cy="640080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1234440" y="2569464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6366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Dual basket: biggest opportunity  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1234440" y="2889504"/>
            <a:ext cx="7543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the strongest demand coefficient (+12.2) and only 0.2% market penetration, dual-basket designs are the most underexplored feature. Early movers stand to capture significant share.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548640" y="3374136"/>
            <a:ext cx="54864" cy="64008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1234440" y="3374136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4D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Price reflects cost, not strategy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1234440" y="3694176"/>
            <a:ext cx="7543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Markups are nearly identical across brands ($38–$46). Brands aren't differentiating on margin — they're competing on cost structure and volume.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548640" y="4178808"/>
            <a:ext cx="54864" cy="64008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1234440" y="417880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F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Watch Cosori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1234440" y="4498848"/>
            <a:ext cx="7543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Grew from near-zero to top-tier share between 2019–2023 in the standard basket segment. Poses the most credible near-term threat to Ninja's dominance.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